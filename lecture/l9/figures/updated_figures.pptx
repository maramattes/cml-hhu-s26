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95" r:id="rId3"/>
    <p:sldId id="29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9"/>
    <p:restoredTop sz="94625"/>
  </p:normalViewPr>
  <p:slideViewPr>
    <p:cSldViewPr snapToGrid="0">
      <p:cViewPr varScale="1">
        <p:scale>
          <a:sx n="78" d="100"/>
          <a:sy n="78" d="100"/>
        </p:scale>
        <p:origin x="667" y="43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7D685-B9E9-304A-8285-0C8569351FB0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9A452-C77B-B54F-87C6-0DA8AA0D062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4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9A452-C77B-B54F-87C6-0DA8AA0D062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5665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9A452-C77B-B54F-87C6-0DA8AA0D062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5491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2814D-199D-9E19-78AC-92342C869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45DD9F6-BDD1-F663-D21B-0DB09EA5D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2D6D8F-B192-FB78-AAD0-E5A3AC29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84BACC-8ED8-D68F-4BB1-ED89B1F0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8E2191-26BC-3936-CF7C-D985012B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198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92A83-DB48-7056-12C4-676B663AA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138AB4-ED80-E72C-8049-0B12A9046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32F9C8-C08E-F54E-DCE8-7626B0CE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52E2DC-EE23-0A02-01AA-7A3D0E83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9A7E42-C9A3-8715-0EBD-1EA2C924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944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84E8D-F391-B524-2FD8-BC86BD9A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4DD47C-E48D-BFE2-676C-1DC8D689C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10951F-D5B6-F803-D6CA-EBE648B6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CC24C2-CAFB-7D1F-264B-EB57C235B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64672A-B2A0-017E-F5DD-E6F6CB17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0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74D6AF-0411-44D5-0565-2063BF27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59F721-594C-3CB6-BA74-4FFCCEAAA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85E1F1-15BB-518E-51C2-051773022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78B5F0-27CC-8FE2-85BF-970B41B9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FD90CE-D987-37B9-E7D6-BC6D7580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964C45-7AC6-5654-0ABD-89DCA035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7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D86448-C896-09DF-07CE-BAAFBDB9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32341-799B-4734-F532-12A01B959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78F708-563B-4FE0-5FAD-5A28F5A0D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6073E3B-F75C-9B24-B32C-05E271B96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7BDBD0-5AD6-A440-B5D6-0D6903AC7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9DA3A24-46F8-B0A0-F1DF-614019D7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0FEC282-8D4A-1686-AFB4-04CAA849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5D682DB-5FC7-8BB1-D43F-E514019C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61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710ED-F106-0C67-8835-1AA7B06C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A3D8A19-CC23-CDDF-DBD5-0C1B6369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366892-91AC-C39D-A48B-6D03E87F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C6ECFB3-3671-0F72-D9FB-C31F7265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68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85F697-2F94-BDDA-F58F-7852E4D1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FB7FA3D-9F1A-87BC-47E0-79AEFA88B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672773-DDE9-2BF4-95F4-BD4161F0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17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61A0E-8C56-7F9E-7953-0D0D3455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BF4C13-47D1-063C-415B-C9B3CE9B9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A509CC-82D1-EE27-488E-3C50378E9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3610F5-0DB9-544D-121A-5C5783811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23C9DF-E0FA-7BD4-C4D0-B6C0EC567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B3ED4D-4A12-10EB-DA31-BD3A3B39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8601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CD2FCF-DC4F-35A5-D15A-51559178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03B567-0ECB-BF8D-CFC8-8AB030061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622C7E-EB55-CC61-3A7C-B5A3B0862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C36946-AEC6-8C13-9C75-C87798271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285FF5-F524-0054-7EA8-1678B6FD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4DC36B-D6E4-0CCB-50D9-B2B04275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447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37C9A-431D-39A3-3F7F-BB3D1A29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D76696-61FC-A3D4-AC21-FFBDBDB80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F16203-2DD8-2303-C967-28C3320E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FACE7B-AE84-C996-ADF6-5E77C91B4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0DA545-BAB2-6133-7D4B-1120B3CB1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84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8DF3ED1-AF58-9DDC-B93A-992E93186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849030-8825-0C59-F74F-0D9C0AC83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5D29D4-D6E8-83BC-DF91-813925B3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98DD69-F076-77E2-3A04-5F0E0550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7AC3D3-FE61-6339-3AE8-CA3E75A6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78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111FD50-76D0-0979-4DAD-00460F0C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009307-220C-6F6D-57BF-D95063608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8A332A-2514-C672-4D29-9A520070C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8454F-BC86-834B-8A4E-656A8D6A3843}" type="datetimeFigureOut">
              <a:rPr lang="de-DE" smtClean="0"/>
              <a:t>14.11.2023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648828-7282-E344-D35C-1FEE1507C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9C59F7-29F7-9DC3-D541-D0000A232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F07D8-35D3-4643-8323-6105C1456ED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48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uisance part">
            <a:extLst>
              <a:ext uri="{FF2B5EF4-FFF2-40B4-BE49-F238E27FC236}">
                <a16:creationId xmlns:a16="http://schemas.microsoft.com/office/drawing/2014/main" id="{6D7CE7D0-8E67-7BD3-106E-11FD8A01C09C}"/>
              </a:ext>
            </a:extLst>
          </p:cNvPr>
          <p:cNvSpPr/>
          <p:nvPr/>
        </p:nvSpPr>
        <p:spPr>
          <a:xfrm>
            <a:off x="381965" y="3880909"/>
            <a:ext cx="5019375" cy="2506696"/>
          </a:xfrm>
          <a:prstGeom prst="roundRect">
            <a:avLst>
              <a:gd name="adj" fmla="val 7455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endParaRPr lang="en-US" sz="2300" b="1" dirty="0">
              <a:solidFill>
                <a:srgbClr val="2C406E"/>
              </a:solidFill>
              <a:latin typeface="Daytona Condensed" panose="020B0506030503040204" pitchFamily="34" charset="0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Learning causal relationships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Going beyond correlations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Pioneers: Pearl, </a:t>
            </a:r>
            <a:r>
              <a:rPr lang="en-US" sz="2300" b="1">
                <a:solidFill>
                  <a:srgbClr val="2C406E"/>
                </a:solidFill>
                <a:latin typeface="Daytona Condensed" panose="020B0506030503040204" pitchFamily="34" charset="0"/>
              </a:rPr>
              <a:t>Rubins, </a:t>
            </a:r>
            <a:r>
              <a:rPr lang="en-US" sz="2300" b="1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Imbens</a:t>
            </a: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 (Nobel Prize 2021)</a:t>
            </a:r>
          </a:p>
        </p:txBody>
      </p:sp>
      <p:sp>
        <p:nvSpPr>
          <p:cNvPr id="6" name="causal model">
            <a:extLst>
              <a:ext uri="{FF2B5EF4-FFF2-40B4-BE49-F238E27FC236}">
                <a16:creationId xmlns:a16="http://schemas.microsoft.com/office/drawing/2014/main" id="{A94028A7-30BF-C130-A5F6-DE63E8B6F84F}"/>
              </a:ext>
            </a:extLst>
          </p:cNvPr>
          <p:cNvSpPr/>
          <p:nvPr/>
        </p:nvSpPr>
        <p:spPr>
          <a:xfrm>
            <a:off x="827567" y="3617587"/>
            <a:ext cx="3033407" cy="620781"/>
          </a:xfrm>
          <a:prstGeom prst="roundRect">
            <a:avLst>
              <a:gd name="adj" fmla="val 16667"/>
            </a:avLst>
          </a:prstGeom>
          <a:solidFill>
            <a:srgbClr val="2C3F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Causal Inference</a:t>
            </a:r>
            <a:endParaRPr lang="de-DE" sz="3200" dirty="0">
              <a:ln w="0">
                <a:noFill/>
              </a:ln>
              <a:solidFill>
                <a:schemeClr val="bg1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8" name="nuisance part">
            <a:extLst>
              <a:ext uri="{FF2B5EF4-FFF2-40B4-BE49-F238E27FC236}">
                <a16:creationId xmlns:a16="http://schemas.microsoft.com/office/drawing/2014/main" id="{7DD1C700-7DBA-09B0-2607-65D70C980611}"/>
              </a:ext>
            </a:extLst>
          </p:cNvPr>
          <p:cNvSpPr/>
          <p:nvPr/>
        </p:nvSpPr>
        <p:spPr>
          <a:xfrm>
            <a:off x="6790662" y="3880909"/>
            <a:ext cx="4573773" cy="2506696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Learning complex patterns in data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Based on association (correlation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Good at forecasting</a:t>
            </a:r>
          </a:p>
        </p:txBody>
      </p:sp>
      <p:sp>
        <p:nvSpPr>
          <p:cNvPr id="9" name="causal model">
            <a:extLst>
              <a:ext uri="{FF2B5EF4-FFF2-40B4-BE49-F238E27FC236}">
                <a16:creationId xmlns:a16="http://schemas.microsoft.com/office/drawing/2014/main" id="{4F6C79AC-5986-EF74-DD7B-75A48116A01C}"/>
              </a:ext>
            </a:extLst>
          </p:cNvPr>
          <p:cNvSpPr/>
          <p:nvPr/>
        </p:nvSpPr>
        <p:spPr>
          <a:xfrm>
            <a:off x="7889966" y="3617586"/>
            <a:ext cx="3033407" cy="620781"/>
          </a:xfrm>
          <a:prstGeom prst="roundRect">
            <a:avLst>
              <a:gd name="adj" fmla="val 16667"/>
            </a:avLst>
          </a:prstGeom>
          <a:solidFill>
            <a:srgbClr val="2C40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Machine Learning</a:t>
            </a:r>
            <a:endParaRPr lang="de-DE" sz="3200" dirty="0">
              <a:ln w="0">
                <a:noFill/>
              </a:ln>
              <a:solidFill>
                <a:schemeClr val="bg1"/>
              </a:solidFill>
              <a:latin typeface="Daytona Condensed" panose="020B0506030503040204" pitchFamily="34" charset="0"/>
              <a:cs typeface="Mangal" panose="020B0502040204020203" pitchFamily="18" charset="0"/>
            </a:endParaRPr>
          </a:p>
        </p:txBody>
      </p:sp>
      <p:sp>
        <p:nvSpPr>
          <p:cNvPr id="17" name="!!Load data">
            <a:extLst>
              <a:ext uri="{FF2B5EF4-FFF2-40B4-BE49-F238E27FC236}">
                <a16:creationId xmlns:a16="http://schemas.microsoft.com/office/drawing/2014/main" id="{10F858FC-AF31-20B6-5B2F-0E8A6BFA9BBE}"/>
              </a:ext>
            </a:extLst>
          </p:cNvPr>
          <p:cNvSpPr/>
          <p:nvPr/>
        </p:nvSpPr>
        <p:spPr>
          <a:xfrm>
            <a:off x="4310743" y="1169923"/>
            <a:ext cx="3579223" cy="1325563"/>
          </a:xfrm>
          <a:prstGeom prst="roundRect">
            <a:avLst>
              <a:gd name="adj" fmla="val 26795"/>
            </a:avLst>
          </a:prstGeom>
          <a:solidFill>
            <a:srgbClr val="FB5A7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 err="1">
                <a:solidFill>
                  <a:schemeClr val="bg1"/>
                </a:solidFill>
                <a:latin typeface="Daytona Condensed" panose="020B0506030503040204" pitchFamily="34" charset="0"/>
              </a:rPr>
              <a:t>Causal</a:t>
            </a:r>
            <a:r>
              <a:rPr lang="de-DE" sz="3200" dirty="0">
                <a:solidFill>
                  <a:schemeClr val="bg1"/>
                </a:solidFill>
                <a:latin typeface="Daytona Condensed" panose="020B0506030503040204" pitchFamily="34" charset="0"/>
              </a:rPr>
              <a:t> </a:t>
            </a:r>
            <a:r>
              <a:rPr lang="de-DE" sz="3200" dirty="0" err="1">
                <a:solidFill>
                  <a:schemeClr val="bg1"/>
                </a:solidFill>
                <a:latin typeface="Daytona Condensed" panose="020B0506030503040204" pitchFamily="34" charset="0"/>
              </a:rPr>
              <a:t>Machine</a:t>
            </a:r>
            <a:r>
              <a:rPr lang="de-DE" sz="3200" dirty="0">
                <a:solidFill>
                  <a:schemeClr val="bg1"/>
                </a:solidFill>
                <a:latin typeface="Daytona Condensed" panose="020B0506030503040204" pitchFamily="34" charset="0"/>
              </a:rPr>
              <a:t> Learning</a:t>
            </a:r>
          </a:p>
        </p:txBody>
      </p:sp>
      <p:sp>
        <p:nvSpPr>
          <p:cNvPr id="40" name="Rechteckiger Pfeil 39">
            <a:extLst>
              <a:ext uri="{FF2B5EF4-FFF2-40B4-BE49-F238E27FC236}">
                <a16:creationId xmlns:a16="http://schemas.microsoft.com/office/drawing/2014/main" id="{1EC9B251-C77A-4A5A-1A43-24351F94CB6B}"/>
              </a:ext>
            </a:extLst>
          </p:cNvPr>
          <p:cNvSpPr/>
          <p:nvPr/>
        </p:nvSpPr>
        <p:spPr>
          <a:xfrm>
            <a:off x="2149000" y="1330036"/>
            <a:ext cx="2161741" cy="2287550"/>
          </a:xfrm>
          <a:prstGeom prst="bentArrow">
            <a:avLst>
              <a:gd name="adj1" fmla="val 13569"/>
              <a:gd name="adj2" fmla="val 25152"/>
              <a:gd name="adj3" fmla="val 31143"/>
              <a:gd name="adj4" fmla="val 42863"/>
            </a:avLst>
          </a:prstGeom>
          <a:solidFill>
            <a:srgbClr val="2C3F6E"/>
          </a:solidFill>
          <a:ln>
            <a:solidFill>
              <a:srgbClr val="2C3F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hteckiger Pfeil 41">
            <a:extLst>
              <a:ext uri="{FF2B5EF4-FFF2-40B4-BE49-F238E27FC236}">
                <a16:creationId xmlns:a16="http://schemas.microsoft.com/office/drawing/2014/main" id="{CCB85276-BF3B-D10A-FC45-4C0ECDB47089}"/>
              </a:ext>
            </a:extLst>
          </p:cNvPr>
          <p:cNvSpPr/>
          <p:nvPr/>
        </p:nvSpPr>
        <p:spPr>
          <a:xfrm flipH="1">
            <a:off x="7889965" y="1304183"/>
            <a:ext cx="2161741" cy="2313403"/>
          </a:xfrm>
          <a:prstGeom prst="bentArrow">
            <a:avLst>
              <a:gd name="adj1" fmla="val 13569"/>
              <a:gd name="adj2" fmla="val 25152"/>
              <a:gd name="adj3" fmla="val 31143"/>
              <a:gd name="adj4" fmla="val 42863"/>
            </a:avLst>
          </a:prstGeom>
          <a:solidFill>
            <a:srgbClr val="2C3F6E"/>
          </a:solidFill>
          <a:ln>
            <a:solidFill>
              <a:srgbClr val="2C3F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nuisance part">
            <a:extLst>
              <a:ext uri="{FF2B5EF4-FFF2-40B4-BE49-F238E27FC236}">
                <a16:creationId xmlns:a16="http://schemas.microsoft.com/office/drawing/2014/main" id="{D2716279-DF4E-D0C2-4E94-ECC4E6A3E368}"/>
              </a:ext>
            </a:extLst>
          </p:cNvPr>
          <p:cNvSpPr/>
          <p:nvPr/>
        </p:nvSpPr>
        <p:spPr>
          <a:xfrm>
            <a:off x="381965" y="1427365"/>
            <a:ext cx="1984457" cy="5266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2400" b="1" dirty="0" err="1">
                <a:solidFill>
                  <a:srgbClr val="2C406E"/>
                </a:solidFill>
                <a:latin typeface="Daytona Condensed" panose="020B0506030503040204" pitchFamily="34" charset="0"/>
              </a:rPr>
              <a:t>Why</a:t>
            </a:r>
            <a:r>
              <a:rPr lang="de-DE" sz="24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?</a:t>
            </a:r>
          </a:p>
        </p:txBody>
      </p:sp>
      <p:sp>
        <p:nvSpPr>
          <p:cNvPr id="44" name="nuisance part">
            <a:extLst>
              <a:ext uri="{FF2B5EF4-FFF2-40B4-BE49-F238E27FC236}">
                <a16:creationId xmlns:a16="http://schemas.microsoft.com/office/drawing/2014/main" id="{5101612B-A87E-9FDD-5C4D-606BFF2D43C8}"/>
              </a:ext>
            </a:extLst>
          </p:cNvPr>
          <p:cNvSpPr/>
          <p:nvPr/>
        </p:nvSpPr>
        <p:spPr>
          <a:xfrm>
            <a:off x="9825578" y="1427364"/>
            <a:ext cx="1984457" cy="5266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24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404166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usal model">
            <a:extLst>
              <a:ext uri="{FF2B5EF4-FFF2-40B4-BE49-F238E27FC236}">
                <a16:creationId xmlns:a16="http://schemas.microsoft.com/office/drawing/2014/main" id="{8D7E0737-5842-7DB1-8F39-6E9A23CC5F0F}"/>
              </a:ext>
            </a:extLst>
          </p:cNvPr>
          <p:cNvSpPr/>
          <p:nvPr/>
        </p:nvSpPr>
        <p:spPr>
          <a:xfrm>
            <a:off x="838199" y="1097280"/>
            <a:ext cx="4965442" cy="3011424"/>
          </a:xfrm>
          <a:prstGeom prst="roundRect">
            <a:avLst>
              <a:gd name="adj" fmla="val 6222"/>
            </a:avLst>
          </a:prstGeom>
          <a:solidFill>
            <a:srgbClr val="2C3F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Prediction – Machine Learning</a:t>
            </a:r>
          </a:p>
        </p:txBody>
      </p:sp>
      <p:sp>
        <p:nvSpPr>
          <p:cNvPr id="10" name="causal model">
            <a:extLst>
              <a:ext uri="{FF2B5EF4-FFF2-40B4-BE49-F238E27FC236}">
                <a16:creationId xmlns:a16="http://schemas.microsoft.com/office/drawing/2014/main" id="{60C8CE29-96E2-A2E7-270F-88D56A43F31F}"/>
              </a:ext>
            </a:extLst>
          </p:cNvPr>
          <p:cNvSpPr>
            <a:spLocks/>
          </p:cNvSpPr>
          <p:nvPr/>
        </p:nvSpPr>
        <p:spPr>
          <a:xfrm>
            <a:off x="918000" y="1671586"/>
            <a:ext cx="4793214" cy="2350800"/>
          </a:xfrm>
          <a:prstGeom prst="roundRect">
            <a:avLst>
              <a:gd name="adj" fmla="val 5175"/>
            </a:avLst>
          </a:prstGeom>
          <a:solidFill>
            <a:schemeClr val="bg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Powerful methods in high-dimensional and non-linear settings, e.g.,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Scikit-learn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Lasso (Lasso, </a:t>
            </a:r>
            <a:r>
              <a:rPr lang="en-US" sz="2000" dirty="0" err="1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LassoCV</a:t>
            </a: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Random Forest (</a:t>
            </a:r>
            <a:r>
              <a:rPr lang="en-US" sz="2000" dirty="0" err="1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RandomForest</a:t>
            </a: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Boosted Trees (</a:t>
            </a:r>
            <a:r>
              <a:rPr lang="en-US" sz="2000" dirty="0" err="1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LightGBM</a:t>
            </a: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, </a:t>
            </a:r>
            <a:r>
              <a:rPr lang="en-US" sz="2000" dirty="0" err="1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xboost</a:t>
            </a: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, </a:t>
            </a:r>
            <a:r>
              <a:rPr lang="en-US" sz="2000" dirty="0" err="1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CatBoost</a:t>
            </a: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…</a:t>
            </a:r>
          </a:p>
        </p:txBody>
      </p:sp>
      <p:sp>
        <p:nvSpPr>
          <p:cNvPr id="11" name="causal model">
            <a:extLst>
              <a:ext uri="{FF2B5EF4-FFF2-40B4-BE49-F238E27FC236}">
                <a16:creationId xmlns:a16="http://schemas.microsoft.com/office/drawing/2014/main" id="{0639DF5D-D8A8-E187-7F68-CCD9AD51F5DD}"/>
              </a:ext>
            </a:extLst>
          </p:cNvPr>
          <p:cNvSpPr/>
          <p:nvPr/>
        </p:nvSpPr>
        <p:spPr>
          <a:xfrm>
            <a:off x="6388361" y="1097280"/>
            <a:ext cx="4965442" cy="3011424"/>
          </a:xfrm>
          <a:prstGeom prst="roundRect">
            <a:avLst>
              <a:gd name="adj" fmla="val 6222"/>
            </a:avLst>
          </a:prstGeom>
          <a:solidFill>
            <a:srgbClr val="2C3F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Inference – Econometrics &amp; Statistics</a:t>
            </a:r>
          </a:p>
        </p:txBody>
      </p:sp>
      <p:sp>
        <p:nvSpPr>
          <p:cNvPr id="12" name="causal model">
            <a:extLst>
              <a:ext uri="{FF2B5EF4-FFF2-40B4-BE49-F238E27FC236}">
                <a16:creationId xmlns:a16="http://schemas.microsoft.com/office/drawing/2014/main" id="{2B690024-1535-1B23-F4AB-54A3928AA8AB}"/>
              </a:ext>
            </a:extLst>
          </p:cNvPr>
          <p:cNvSpPr/>
          <p:nvPr/>
        </p:nvSpPr>
        <p:spPr>
          <a:xfrm>
            <a:off x="6480000" y="1671586"/>
            <a:ext cx="4794850" cy="2351774"/>
          </a:xfrm>
          <a:prstGeom prst="roundRect">
            <a:avLst>
              <a:gd name="adj" fmla="val 5175"/>
            </a:avLst>
          </a:prstGeom>
          <a:solidFill>
            <a:schemeClr val="bg1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Statistical framework for estimation of causal effects, i.e.,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Structural equation models,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Identification,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Asymptotic properties,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Hypothesis tests, confidence intervals,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000" dirty="0">
                <a:ln w="0">
                  <a:noFill/>
                </a:ln>
                <a:solidFill>
                  <a:srgbClr val="2C3F6E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…</a:t>
            </a:r>
          </a:p>
        </p:txBody>
      </p:sp>
      <p:sp>
        <p:nvSpPr>
          <p:cNvPr id="13" name="causal model">
            <a:extLst>
              <a:ext uri="{FF2B5EF4-FFF2-40B4-BE49-F238E27FC236}">
                <a16:creationId xmlns:a16="http://schemas.microsoft.com/office/drawing/2014/main" id="{13F3B419-0867-B1F8-F2D5-8238145F33D7}"/>
              </a:ext>
            </a:extLst>
          </p:cNvPr>
          <p:cNvSpPr/>
          <p:nvPr/>
        </p:nvSpPr>
        <p:spPr>
          <a:xfrm>
            <a:off x="3613279" y="5157758"/>
            <a:ext cx="4965442" cy="638256"/>
          </a:xfrm>
          <a:prstGeom prst="roundRect">
            <a:avLst>
              <a:gd name="adj" fmla="val 6222"/>
            </a:avLst>
          </a:prstGeom>
          <a:solidFill>
            <a:srgbClr val="2C3F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Causal / Double Machine Learning</a:t>
            </a:r>
          </a:p>
        </p:txBody>
      </p:sp>
      <p:cxnSp>
        <p:nvCxnSpPr>
          <p:cNvPr id="15" name="Gekrümmte Verbindung 14">
            <a:extLst>
              <a:ext uri="{FF2B5EF4-FFF2-40B4-BE49-F238E27FC236}">
                <a16:creationId xmlns:a16="http://schemas.microsoft.com/office/drawing/2014/main" id="{6B009263-4FDC-D28A-C663-F712F672A07D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2299417" y="4163024"/>
            <a:ext cx="1368180" cy="1259543"/>
          </a:xfrm>
          <a:prstGeom prst="curvedConnector2">
            <a:avLst/>
          </a:prstGeom>
          <a:ln w="57150">
            <a:solidFill>
              <a:srgbClr val="2C3F6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krümmte Verbindung 17">
            <a:extLst>
              <a:ext uri="{FF2B5EF4-FFF2-40B4-BE49-F238E27FC236}">
                <a16:creationId xmlns:a16="http://schemas.microsoft.com/office/drawing/2014/main" id="{CA62AF56-41C6-825B-1CD9-BCCACE238102}"/>
              </a:ext>
            </a:extLst>
          </p:cNvPr>
          <p:cNvCxnSpPr>
            <a:cxnSpLocks/>
            <a:endCxn id="13" idx="3"/>
          </p:cNvCxnSpPr>
          <p:nvPr/>
        </p:nvCxnSpPr>
        <p:spPr>
          <a:xfrm rot="5400000">
            <a:off x="8524402" y="4163023"/>
            <a:ext cx="1368182" cy="1259544"/>
          </a:xfrm>
          <a:prstGeom prst="curvedConnector2">
            <a:avLst/>
          </a:prstGeom>
          <a:ln w="57150">
            <a:solidFill>
              <a:srgbClr val="2C3F6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22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usal model">
            <a:extLst>
              <a:ext uri="{FF2B5EF4-FFF2-40B4-BE49-F238E27FC236}">
                <a16:creationId xmlns:a16="http://schemas.microsoft.com/office/drawing/2014/main" id="{B2F6445C-C459-337E-C54D-91F0B73CDE21}"/>
              </a:ext>
            </a:extLst>
          </p:cNvPr>
          <p:cNvSpPr/>
          <p:nvPr/>
        </p:nvSpPr>
        <p:spPr>
          <a:xfrm>
            <a:off x="682552" y="1012435"/>
            <a:ext cx="5290356" cy="4682972"/>
          </a:xfrm>
          <a:prstGeom prst="roundRect">
            <a:avLst>
              <a:gd name="adj" fmla="val 7950"/>
            </a:avLst>
          </a:prstGeom>
          <a:solidFill>
            <a:srgbClr val="2C3F6E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ln w="0">
                  <a:noFill/>
                </a:ln>
                <a:solidFill>
                  <a:schemeClr val="bg1"/>
                </a:solidFill>
                <a:latin typeface="Daytona Condensed" panose="020B0506030503040204" pitchFamily="34" charset="0"/>
                <a:cs typeface="Mangal" panose="020B0502040204020203" pitchFamily="18" charset="0"/>
              </a:rPr>
              <a:t>Causal Modelling</a:t>
            </a:r>
          </a:p>
        </p:txBody>
      </p:sp>
      <p:sp>
        <p:nvSpPr>
          <p:cNvPr id="5" name="nuisance part">
            <a:extLst>
              <a:ext uri="{FF2B5EF4-FFF2-40B4-BE49-F238E27FC236}">
                <a16:creationId xmlns:a16="http://schemas.microsoft.com/office/drawing/2014/main" id="{8F403F3C-53AB-FCC8-6F82-31174FE4D502}"/>
              </a:ext>
            </a:extLst>
          </p:cNvPr>
          <p:cNvSpPr/>
          <p:nvPr/>
        </p:nvSpPr>
        <p:spPr>
          <a:xfrm>
            <a:off x="822960" y="1605774"/>
            <a:ext cx="4990700" cy="3896148"/>
          </a:xfrm>
          <a:prstGeom prst="roundRect">
            <a:avLst>
              <a:gd name="adj" fmla="val 6459"/>
            </a:avLst>
          </a:prstGeom>
          <a:solidFill>
            <a:srgbClr val="FFFFFF"/>
          </a:solidFill>
          <a:ln>
            <a:noFill/>
          </a:ln>
          <a:effectLst>
            <a:outerShdw blurRad="508000" dist="38100" dir="5400000" algn="t" rotWithShape="0">
              <a:srgbClr val="3A4D78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300" dirty="0">
                <a:solidFill>
                  <a:srgbClr val="2C406E"/>
                </a:solidFill>
                <a:latin typeface="Daytona Condensed" panose="020B0506030503040204" pitchFamily="34" charset="0"/>
              </a:rPr>
              <a:t>Look into the black box and </a:t>
            </a: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learn about the underlying mechanism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300" dirty="0">
                <a:solidFill>
                  <a:srgbClr val="2C406E"/>
                </a:solidFill>
                <a:latin typeface="Daytona Condensed" panose="020B0506030503040204" pitchFamily="34" charset="0"/>
              </a:rPr>
              <a:t>Example: </a:t>
            </a: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Association</a:t>
            </a:r>
            <a:r>
              <a:rPr lang="en-US" sz="2300" dirty="0">
                <a:solidFill>
                  <a:srgbClr val="2C406E"/>
                </a:solidFill>
                <a:latin typeface="Daytona Condensed" panose="020B0506030503040204" pitchFamily="34" charset="0"/>
              </a:rPr>
              <a:t> between lung cancer and wearing a lighter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300" dirty="0">
                <a:solidFill>
                  <a:srgbClr val="2C406E"/>
                </a:solidFill>
                <a:latin typeface="Daytona Condensed" panose="020B0506030503040204" pitchFamily="34" charset="0"/>
              </a:rPr>
              <a:t>Obviously, </a:t>
            </a: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no causal relationship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2300" dirty="0">
                <a:solidFill>
                  <a:srgbClr val="2C406E"/>
                </a:solidFill>
                <a:latin typeface="Daytona Condensed" panose="020B0506030503040204" pitchFamily="34" charset="0"/>
              </a:rPr>
              <a:t>Nevertheless, prediction might work!</a:t>
            </a:r>
          </a:p>
          <a:p>
            <a:pPr lvl="1"/>
            <a:endParaRPr lang="en-US" sz="2300" dirty="0">
              <a:solidFill>
                <a:srgbClr val="2C406E"/>
              </a:solidFill>
              <a:latin typeface="Daytona Condensed" panose="020B0506030503040204" pitchFamily="34" charset="0"/>
            </a:endParaRPr>
          </a:p>
          <a:p>
            <a:pPr marL="342900" indent="-342900">
              <a:buFont typeface="Systemschrift Normal"/>
              <a:buChar char="→"/>
            </a:pPr>
            <a:r>
              <a:rPr lang="en-US" sz="2300" b="1" dirty="0">
                <a:solidFill>
                  <a:srgbClr val="2C406E"/>
                </a:solidFill>
                <a:latin typeface="Daytona Condensed" panose="020B0506030503040204" pitchFamily="34" charset="0"/>
              </a:rPr>
              <a:t>Causal understanding is key for real “Intelligence”</a:t>
            </a: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4AC3304C-D308-8222-5D17-E425E49AF5FB}"/>
              </a:ext>
            </a:extLst>
          </p:cNvPr>
          <p:cNvGrpSpPr/>
          <p:nvPr/>
        </p:nvGrpSpPr>
        <p:grpSpPr>
          <a:xfrm>
            <a:off x="4529894" y="-355401"/>
            <a:ext cx="7001206" cy="7418644"/>
            <a:chOff x="4508242" y="-355829"/>
            <a:chExt cx="7001206" cy="7418644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D749AFEF-DC95-7111-81D2-1838475A9987}"/>
                </a:ext>
              </a:extLst>
            </p:cNvPr>
            <p:cNvGrpSpPr/>
            <p:nvPr/>
          </p:nvGrpSpPr>
          <p:grpSpPr>
            <a:xfrm>
              <a:off x="4520552" y="-355829"/>
              <a:ext cx="3567607" cy="2224390"/>
              <a:chOff x="4520552" y="-355829"/>
              <a:chExt cx="3567607" cy="2224390"/>
            </a:xfrm>
          </p:grpSpPr>
          <p:sp>
            <p:nvSpPr>
              <p:cNvPr id="11" name="Halbbogen 10">
                <a:extLst>
                  <a:ext uri="{FF2B5EF4-FFF2-40B4-BE49-F238E27FC236}">
                    <a16:creationId xmlns:a16="http://schemas.microsoft.com/office/drawing/2014/main" id="{17AE3F35-CC20-27F0-3153-EABFBE3EA772}"/>
                  </a:ext>
                </a:extLst>
              </p:cNvPr>
              <p:cNvSpPr/>
              <p:nvPr/>
            </p:nvSpPr>
            <p:spPr>
              <a:xfrm rot="10800000">
                <a:off x="4520552" y="-355829"/>
                <a:ext cx="1992159" cy="1560894"/>
              </a:xfrm>
              <a:prstGeom prst="blockArc">
                <a:avLst>
                  <a:gd name="adj1" fmla="val 12084291"/>
                  <a:gd name="adj2" fmla="val 16297100"/>
                  <a:gd name="adj3" fmla="val 12287"/>
                </a:avLst>
              </a:prstGeom>
              <a:solidFill>
                <a:srgbClr val="2C3F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Halbbogen 13">
                <a:extLst>
                  <a:ext uri="{FF2B5EF4-FFF2-40B4-BE49-F238E27FC236}">
                    <a16:creationId xmlns:a16="http://schemas.microsoft.com/office/drawing/2014/main" id="{CE355835-7FC7-951B-EA70-15D551D1BAF0}"/>
                  </a:ext>
                </a:extLst>
              </p:cNvPr>
              <p:cNvSpPr/>
              <p:nvPr/>
            </p:nvSpPr>
            <p:spPr>
              <a:xfrm>
                <a:off x="6096000" y="307667"/>
                <a:ext cx="1992159" cy="1560894"/>
              </a:xfrm>
              <a:prstGeom prst="blockArc">
                <a:avLst>
                  <a:gd name="adj1" fmla="val 12084291"/>
                  <a:gd name="adj2" fmla="val 16297100"/>
                  <a:gd name="adj3" fmla="val 12287"/>
                </a:avLst>
              </a:prstGeom>
              <a:solidFill>
                <a:srgbClr val="2C3F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8801B424-F594-BDF8-2D50-BA5BC160E1AE}"/>
                </a:ext>
              </a:extLst>
            </p:cNvPr>
            <p:cNvGrpSpPr/>
            <p:nvPr/>
          </p:nvGrpSpPr>
          <p:grpSpPr>
            <a:xfrm rot="10800000" flipV="1">
              <a:off x="4508242" y="4838425"/>
              <a:ext cx="3567607" cy="2224390"/>
              <a:chOff x="4520552" y="-355829"/>
              <a:chExt cx="3567607" cy="2224390"/>
            </a:xfrm>
          </p:grpSpPr>
          <p:sp>
            <p:nvSpPr>
              <p:cNvPr id="17" name="Halbbogen 16">
                <a:extLst>
                  <a:ext uri="{FF2B5EF4-FFF2-40B4-BE49-F238E27FC236}">
                    <a16:creationId xmlns:a16="http://schemas.microsoft.com/office/drawing/2014/main" id="{19C45F2C-A27E-B6FD-9FCE-E8A6126660E2}"/>
                  </a:ext>
                </a:extLst>
              </p:cNvPr>
              <p:cNvSpPr/>
              <p:nvPr/>
            </p:nvSpPr>
            <p:spPr>
              <a:xfrm rot="10800000">
                <a:off x="4520552" y="-355829"/>
                <a:ext cx="1992159" cy="1560894"/>
              </a:xfrm>
              <a:prstGeom prst="blockArc">
                <a:avLst>
                  <a:gd name="adj1" fmla="val 12084291"/>
                  <a:gd name="adj2" fmla="val 16297100"/>
                  <a:gd name="adj3" fmla="val 12287"/>
                </a:avLst>
              </a:prstGeom>
              <a:solidFill>
                <a:srgbClr val="2C3F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Halbbogen 17">
                <a:extLst>
                  <a:ext uri="{FF2B5EF4-FFF2-40B4-BE49-F238E27FC236}">
                    <a16:creationId xmlns:a16="http://schemas.microsoft.com/office/drawing/2014/main" id="{3E4B45CB-34D5-9BA5-08F0-4EB0549B48A2}"/>
                  </a:ext>
                </a:extLst>
              </p:cNvPr>
              <p:cNvSpPr/>
              <p:nvPr/>
            </p:nvSpPr>
            <p:spPr>
              <a:xfrm>
                <a:off x="6096000" y="307667"/>
                <a:ext cx="1992159" cy="1560894"/>
              </a:xfrm>
              <a:prstGeom prst="blockArc">
                <a:avLst>
                  <a:gd name="adj1" fmla="val 12084291"/>
                  <a:gd name="adj2" fmla="val 16297100"/>
                  <a:gd name="adj3" fmla="val 12287"/>
                </a:avLst>
              </a:prstGeom>
              <a:solidFill>
                <a:srgbClr val="2C3F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" name="Ecken des Rechtecks auf der gleichen Seite abrunden 1">
              <a:extLst>
                <a:ext uri="{FF2B5EF4-FFF2-40B4-BE49-F238E27FC236}">
                  <a16:creationId xmlns:a16="http://schemas.microsoft.com/office/drawing/2014/main" id="{F7D3842E-6D46-42E5-03BB-922B9559E442}"/>
                </a:ext>
              </a:extLst>
            </p:cNvPr>
            <p:cNvSpPr/>
            <p:nvPr/>
          </p:nvSpPr>
          <p:spPr>
            <a:xfrm rot="5400000">
              <a:off x="6254476" y="1144347"/>
              <a:ext cx="6091652" cy="4418292"/>
            </a:xfrm>
            <a:prstGeom prst="round2SameRect">
              <a:avLst>
                <a:gd name="adj1" fmla="val 20509"/>
                <a:gd name="adj2" fmla="val 0"/>
              </a:avLst>
            </a:prstGeom>
            <a:solidFill>
              <a:srgbClr val="2C3F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Ecken des Rechtecks auf der gleichen Seite abrunden 2">
              <a:extLst>
                <a:ext uri="{FF2B5EF4-FFF2-40B4-BE49-F238E27FC236}">
                  <a16:creationId xmlns:a16="http://schemas.microsoft.com/office/drawing/2014/main" id="{DD0AB424-FDC7-9E7B-7DA1-46446DCF1799}"/>
                </a:ext>
              </a:extLst>
            </p:cNvPr>
            <p:cNvSpPr/>
            <p:nvPr/>
          </p:nvSpPr>
          <p:spPr>
            <a:xfrm rot="5400000">
              <a:off x="6340555" y="1206603"/>
              <a:ext cx="5709600" cy="4291954"/>
            </a:xfrm>
            <a:prstGeom prst="round2Same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A36AC593-484F-E9C4-D236-BBFBE84080F4}"/>
              </a:ext>
            </a:extLst>
          </p:cNvPr>
          <p:cNvGrpSpPr/>
          <p:nvPr/>
        </p:nvGrpSpPr>
        <p:grpSpPr>
          <a:xfrm>
            <a:off x="6573642" y="814487"/>
            <a:ext cx="4271828" cy="4832245"/>
            <a:chOff x="6573642" y="814487"/>
            <a:chExt cx="4271828" cy="4832245"/>
          </a:xfrm>
        </p:grpSpPr>
        <p:pic>
          <p:nvPicPr>
            <p:cNvPr id="57" name="Grafik 56" descr="Ein Bild, das Säugetier, Clipart, Grafiken, Design enthält.&#10;&#10;Automatisch generierte Beschreibung">
              <a:extLst>
                <a:ext uri="{FF2B5EF4-FFF2-40B4-BE49-F238E27FC236}">
                  <a16:creationId xmlns:a16="http://schemas.microsoft.com/office/drawing/2014/main" id="{E582DAB5-ADDC-0470-C12F-9B7073FF3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09062" y="814487"/>
              <a:ext cx="1513362" cy="1203723"/>
            </a:xfrm>
            <a:prstGeom prst="rect">
              <a:avLst/>
            </a:prstGeom>
          </p:spPr>
        </p:pic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027BECCE-5E08-D755-B2E6-74F47A599594}"/>
                </a:ext>
              </a:extLst>
            </p:cNvPr>
            <p:cNvSpPr txBox="1"/>
            <p:nvPr/>
          </p:nvSpPr>
          <p:spPr>
            <a:xfrm>
              <a:off x="9509015" y="2056142"/>
              <a:ext cx="9134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Jost" pitchFamily="2" charset="0"/>
                  <a:ea typeface="Jost" pitchFamily="2" charset="0"/>
                </a:rPr>
                <a:t>A/B Testing</a:t>
              </a:r>
            </a:p>
          </p:txBody>
        </p:sp>
        <p:pic>
          <p:nvPicPr>
            <p:cNvPr id="59" name="Grafik 58" descr="Ein Bild, das Grafiken, Screenshot, Logo, Grafikdesign enthält.&#10;&#10;Automatisch generierte Beschreibung">
              <a:extLst>
                <a:ext uri="{FF2B5EF4-FFF2-40B4-BE49-F238E27FC236}">
                  <a16:creationId xmlns:a16="http://schemas.microsoft.com/office/drawing/2014/main" id="{8F73A4B4-CBE7-DE07-6399-18CEC01B0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1038" y="2542352"/>
              <a:ext cx="1259457" cy="909565"/>
            </a:xfrm>
            <a:prstGeom prst="rect">
              <a:avLst/>
            </a:prstGeom>
          </p:spPr>
        </p:pic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A0943113-FAAE-CD8B-E43E-75AC9D3EAE51}"/>
                </a:ext>
              </a:extLst>
            </p:cNvPr>
            <p:cNvSpPr txBox="1"/>
            <p:nvPr/>
          </p:nvSpPr>
          <p:spPr>
            <a:xfrm>
              <a:off x="6784250" y="3550081"/>
              <a:ext cx="1233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Jost" pitchFamily="2" charset="0"/>
                  <a:ea typeface="Jost" pitchFamily="2" charset="0"/>
                </a:rPr>
                <a:t>Uplift Modelling</a:t>
              </a:r>
            </a:p>
          </p:txBody>
        </p:sp>
        <p:pic>
          <p:nvPicPr>
            <p:cNvPr id="61" name="Grafik 60" descr="Ein Bild, das Grafiken, Grafikdesign, Logo, Symbol enthält.&#10;&#10;Automatisch generierte Beschreibung">
              <a:extLst>
                <a:ext uri="{FF2B5EF4-FFF2-40B4-BE49-F238E27FC236}">
                  <a16:creationId xmlns:a16="http://schemas.microsoft.com/office/drawing/2014/main" id="{FFFD93A8-DDF9-3612-985F-F6EC1F39C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00159" y="2452169"/>
              <a:ext cx="1531166" cy="1089930"/>
            </a:xfrm>
            <a:prstGeom prst="rect">
              <a:avLst/>
            </a:prstGeom>
          </p:spPr>
        </p:pic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37DA4E9A-DFF1-0830-48F7-D092F1E1E11F}"/>
                </a:ext>
              </a:extLst>
            </p:cNvPr>
            <p:cNvSpPr txBox="1"/>
            <p:nvPr/>
          </p:nvSpPr>
          <p:spPr>
            <a:xfrm>
              <a:off x="9360448" y="3550081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Jost" pitchFamily="2" charset="0"/>
                  <a:ea typeface="Jost" pitchFamily="2" charset="0"/>
                </a:rPr>
                <a:t>Dynamic Pricing</a:t>
              </a:r>
            </a:p>
          </p:txBody>
        </p:sp>
        <p:pic>
          <p:nvPicPr>
            <p:cNvPr id="63" name="Grafik 62" descr="Ein Bild, das Grafiken, Screenshot, Grafikdesign, Symbol enthält.&#10;&#10;Automatisch generierte Beschreibung">
              <a:extLst>
                <a:ext uri="{FF2B5EF4-FFF2-40B4-BE49-F238E27FC236}">
                  <a16:creationId xmlns:a16="http://schemas.microsoft.com/office/drawing/2014/main" id="{515E9F2D-1DB4-E41B-A6A9-4B0111401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1476" y="874867"/>
              <a:ext cx="998587" cy="1082964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DC4BC504-6120-511D-B658-A20F3BC0EC9D}"/>
                </a:ext>
              </a:extLst>
            </p:cNvPr>
            <p:cNvSpPr txBox="1"/>
            <p:nvPr/>
          </p:nvSpPr>
          <p:spPr>
            <a:xfrm>
              <a:off x="6675409" y="2056143"/>
              <a:ext cx="14507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Jost" pitchFamily="2" charset="0"/>
                  <a:ea typeface="Jost" pitchFamily="2" charset="0"/>
                </a:rPr>
                <a:t>Resource Allocation</a:t>
              </a:r>
            </a:p>
          </p:txBody>
        </p:sp>
        <p:pic>
          <p:nvPicPr>
            <p:cNvPr id="65" name="Grafik 64" descr="Ein Bild, das Grafiken, Symbol, Grafikdesign, Schrift enthält.&#10;&#10;Automatisch generierte Beschreibung">
              <a:extLst>
                <a:ext uri="{FF2B5EF4-FFF2-40B4-BE49-F238E27FC236}">
                  <a16:creationId xmlns:a16="http://schemas.microsoft.com/office/drawing/2014/main" id="{CA5D8E85-79DA-4AD5-73E1-12BD3875D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3642" y="4217247"/>
              <a:ext cx="1654247" cy="1054322"/>
            </a:xfrm>
            <a:prstGeom prst="rect">
              <a:avLst/>
            </a:prstGeom>
          </p:spPr>
        </p:pic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3D86EC44-E2BA-1FC5-C235-9CE3F4DD0F89}"/>
                </a:ext>
              </a:extLst>
            </p:cNvPr>
            <p:cNvSpPr txBox="1"/>
            <p:nvPr/>
          </p:nvSpPr>
          <p:spPr>
            <a:xfrm>
              <a:off x="6885811" y="5369733"/>
              <a:ext cx="1014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Jost" pitchFamily="2" charset="0"/>
                  <a:ea typeface="Jost" pitchFamily="2" charset="0"/>
                </a:rPr>
                <a:t>Clinical Trials</a:t>
              </a:r>
            </a:p>
          </p:txBody>
        </p:sp>
        <p:pic>
          <p:nvPicPr>
            <p:cNvPr id="67" name="Grafik 66" descr="Ein Bild, das Grafiken, Logo, Schrift, Kreis enthält.&#10;&#10;Automatisch generierte Beschreibung">
              <a:extLst>
                <a:ext uri="{FF2B5EF4-FFF2-40B4-BE49-F238E27FC236}">
                  <a16:creationId xmlns:a16="http://schemas.microsoft.com/office/drawing/2014/main" id="{279F0686-BF31-AA09-5C94-CE34D4D9C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5176" y="4184734"/>
              <a:ext cx="1281132" cy="1119347"/>
            </a:xfrm>
            <a:prstGeom prst="rect">
              <a:avLst/>
            </a:prstGeom>
          </p:spPr>
        </p:pic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8993B67-F7DF-AC13-FF02-D9A871CAB2A8}"/>
                </a:ext>
              </a:extLst>
            </p:cNvPr>
            <p:cNvSpPr txBox="1"/>
            <p:nvPr/>
          </p:nvSpPr>
          <p:spPr>
            <a:xfrm>
              <a:off x="9086014" y="5369733"/>
              <a:ext cx="17594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Jost" pitchFamily="2" charset="0"/>
                  <a:ea typeface="Jost" pitchFamily="2" charset="0"/>
                </a:rPr>
                <a:t>Production Optimization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228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Breitbild</PresentationFormat>
  <Paragraphs>42</Paragraphs>
  <Slides>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Daytona Condensed</vt:lpstr>
      <vt:lpstr>Jost</vt:lpstr>
      <vt:lpstr>Systemschrift Normal</vt:lpstr>
      <vt:lpstr>Wingdings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Max Bauer</dc:creator>
  <cp:lastModifiedBy>Philipp Bach</cp:lastModifiedBy>
  <cp:revision>4</cp:revision>
  <dcterms:created xsi:type="dcterms:W3CDTF">2023-10-09T20:43:59Z</dcterms:created>
  <dcterms:modified xsi:type="dcterms:W3CDTF">2023-11-14T12:22:32Z</dcterms:modified>
</cp:coreProperties>
</file>